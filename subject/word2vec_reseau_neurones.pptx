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87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389120" cy="4389120"/>
          </a:xfrm>
          <a:prstGeom prst="ellipse">
            <a:avLst/>
          </a:prstGeom>
          <a:solidFill>
            <a:srgbClr val="1B9AA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AB14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914400"/>
            <a:ext cx="1005840" cy="1828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914400"/>
            <a:ext cx="1005840" cy="73152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914400"/>
            <a:ext cx="1005840" cy="128016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869680" y="1097280"/>
            <a:ext cx="1005840" cy="30480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1402080"/>
            <a:ext cx="1005840" cy="24384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402080"/>
            <a:ext cx="1005840" cy="7924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869680" y="1097280"/>
            <a:ext cx="1005840" cy="7924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869680" y="1645920"/>
            <a:ext cx="1005840" cy="24384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1889760"/>
            <a:ext cx="1005840" cy="30480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869680" y="1097280"/>
            <a:ext cx="1005840" cy="128016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869680" y="1645920"/>
            <a:ext cx="1005840" cy="73152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69680" y="2194560"/>
            <a:ext cx="1005840" cy="1828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875520" y="914400"/>
            <a:ext cx="1005840" cy="1828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1097280"/>
            <a:ext cx="1005840" cy="30480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1097280"/>
            <a:ext cx="1005840" cy="7924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1097280"/>
            <a:ext cx="1005840" cy="128016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875520" y="914400"/>
            <a:ext cx="1005840" cy="73152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875520" y="1402080"/>
            <a:ext cx="1005840" cy="24384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645920"/>
            <a:ext cx="1005840" cy="24384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645920"/>
            <a:ext cx="1005840" cy="73152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875520" y="914400"/>
            <a:ext cx="1005840" cy="128016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875520" y="1402080"/>
            <a:ext cx="1005840" cy="7924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875520" y="1889760"/>
            <a:ext cx="1005840" cy="30480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2194560"/>
            <a:ext cx="1005840" cy="18288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82296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131064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79832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228600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1005840"/>
            <a:ext cx="182880" cy="182880"/>
          </a:xfrm>
          <a:prstGeom prst="ellipse">
            <a:avLst/>
          </a:prstGeom>
          <a:solidFill>
            <a:srgbClr val="EAB14C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1554480"/>
            <a:ext cx="182880" cy="182880"/>
          </a:xfrm>
          <a:prstGeom prst="ellipse">
            <a:avLst/>
          </a:prstGeom>
          <a:solidFill>
            <a:srgbClr val="EAB14C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103120"/>
            <a:ext cx="182880" cy="182880"/>
          </a:xfrm>
          <a:prstGeom prst="ellipse">
            <a:avLst/>
          </a:prstGeom>
          <a:solidFill>
            <a:srgbClr val="EAB14C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89920" y="82296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89920" y="131064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0" y="179832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89920" y="2286000"/>
            <a:ext cx="182880" cy="18288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0E2A33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731520" cy="7315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66928" y="2240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A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4864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WORD2VEC: le réseau de neurones</a:t>
            </a:r>
            <a:endParaRPr lang="en-US" sz="4000" dirty="0"/>
          </a:p>
        </p:txBody>
      </p:sp>
      <p:sp>
        <p:nvSpPr>
          <p:cNvPr id="42" name="Text 39"/>
          <p:cNvSpPr/>
          <p:nvPr/>
        </p:nvSpPr>
        <p:spPr>
          <a:xfrm>
            <a:off x="566928" y="39776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quelques neurones et deux matrices de poids apprennent à représenter le sens des mots.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66928" y="5074920"/>
            <a:ext cx="951890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074920"/>
            <a:ext cx="9518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1719986" y="5074920"/>
            <a:ext cx="1516990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719986" y="5074920"/>
            <a:ext cx="15169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cachée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3438144" y="5074920"/>
            <a:ext cx="951890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38144" y="5074920"/>
            <a:ext cx="9518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4591202" y="5074920"/>
            <a:ext cx="1799539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591202" y="5074920"/>
            <a:ext cx="17995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 / CBOW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591910" y="5074920"/>
            <a:ext cx="1893722" cy="420624"/>
          </a:xfrm>
          <a:prstGeom prst="roundRect">
            <a:avLst>
              <a:gd name="adj" fmla="val 50000"/>
            </a:avLst>
          </a:prstGeom>
          <a:solidFill>
            <a:srgbClr val="12343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91910" y="5074920"/>
            <a:ext cx="18937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sampling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L'objectif : un vecteur dense par mot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attribue à chaque mot un </a:t>
            </a:r>
            <a:r>
              <a:rPr lang="en-US" sz="17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de ~100 nombres</a:t>
            </a: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capture son sens. Mais comment ces nombres sont-ils calculés 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: un </a:t>
            </a:r>
            <a:r>
              <a:rPr lang="en-US" sz="16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 très simple</a:t>
            </a: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(une seule couche cachée) qu'on entraîne à une fausse tâche : prédire les mots voisins.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212080" cy="1371600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160520"/>
            <a:ext cx="91440" cy="1371600"/>
          </a:xfrm>
          <a:prstGeom prst="rect">
            <a:avLst/>
          </a:prstGeom>
          <a:solidFill>
            <a:srgbClr val="EAB14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L'astuce centrale
</a:t>
            </a:r>
            <a:r>
              <a:rPr lang="en-US" sz="14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s'intéresse pas à la prédiction elle-même, mais aux POIDS appris au passage : ce sont eux, les vecteurs-mots.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E2A33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 fausse tâche » d'entraînement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le chat ___ la souris 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3063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AB14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apprend à deviner un mot d'après son entourage…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526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…et c'est en s'entraînant qu'il range les mots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sens proche au même endroit.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couches, deux matrices de poids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103120" y="2286000"/>
            <a:ext cx="4023360" cy="64008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286000"/>
            <a:ext cx="4023360" cy="169164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2286000"/>
            <a:ext cx="4023360" cy="274320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103120" y="2926080"/>
            <a:ext cx="4023360" cy="20574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131820"/>
            <a:ext cx="4023360" cy="84582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3131820"/>
            <a:ext cx="4023360" cy="189738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03120" y="2926080"/>
            <a:ext cx="4023360" cy="105156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977640"/>
            <a:ext cx="4023360" cy="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977640"/>
            <a:ext cx="4023360" cy="105156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103120" y="2926080"/>
            <a:ext cx="4023360" cy="189738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03120" y="3977640"/>
            <a:ext cx="4023360" cy="84582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4823460"/>
            <a:ext cx="4023360" cy="20574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3120" y="2926080"/>
            <a:ext cx="4023360" cy="274320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103120" y="3977640"/>
            <a:ext cx="4023360" cy="169164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103120" y="5029200"/>
            <a:ext cx="4023360" cy="640080"/>
          </a:xfrm>
          <a:prstGeom prst="line">
            <a:avLst/>
          </a:prstGeom>
          <a:noFill/>
          <a:ln w="9525">
            <a:solidFill>
              <a:srgbClr val="1B9AAA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26480" y="2286000"/>
            <a:ext cx="3931920" cy="64008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926080"/>
            <a:ext cx="3931920" cy="20574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926080"/>
            <a:ext cx="3931920" cy="105156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926080"/>
            <a:ext cx="3931920" cy="189738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926080"/>
            <a:ext cx="3931920" cy="274320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26480" y="2286000"/>
            <a:ext cx="3931920" cy="169164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126480" y="3131820"/>
            <a:ext cx="3931920" cy="84582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977640"/>
            <a:ext cx="3931920" cy="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977640"/>
            <a:ext cx="3931920" cy="84582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977640"/>
            <a:ext cx="3931920" cy="169164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126480" y="2286000"/>
            <a:ext cx="3931920" cy="274320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126480" y="3131820"/>
            <a:ext cx="3931920" cy="189738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126480" y="3977640"/>
            <a:ext cx="3931920" cy="105156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126480" y="4823460"/>
            <a:ext cx="3931920" cy="20574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5029200"/>
            <a:ext cx="3931920" cy="640080"/>
          </a:xfrm>
          <a:prstGeom prst="line">
            <a:avLst/>
          </a:prstGeom>
          <a:noFill/>
          <a:ln w="9525">
            <a:solidFill>
              <a:srgbClr val="EAB14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83664" y="206654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83664" y="291236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83664" y="3758184"/>
            <a:ext cx="438912" cy="438912"/>
          </a:xfrm>
          <a:prstGeom prst="ellipse">
            <a:avLst/>
          </a:prstGeom>
          <a:solidFill>
            <a:srgbClr val="EAB14C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83664" y="460400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83664" y="544982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88736" y="2688336"/>
            <a:ext cx="475488" cy="475488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88736" y="3739896"/>
            <a:ext cx="475488" cy="475488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88736" y="4791456"/>
            <a:ext cx="475488" cy="475488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38944" y="206654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38944" y="291236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38944" y="375818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38944" y="460400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38944" y="5449824"/>
            <a:ext cx="438912" cy="438912"/>
          </a:xfrm>
          <a:prstGeom prst="ellipse">
            <a:avLst/>
          </a:prstGeom>
          <a:solidFill>
            <a:srgbClr val="F3F6F7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897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
</a:t>
            </a:r>
            <a:r>
              <a:rPr lang="en-US" sz="12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one-hot (taille V)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54880" y="5897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CACHÉE
</a:t>
            </a:r>
            <a:r>
              <a:rPr lang="en-US" sz="12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projection (taille N)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869680" y="5897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
</a:t>
            </a:r>
            <a:r>
              <a:rPr lang="en-US" sz="12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softmax (taille V)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20440" y="1828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B9AAA"/>
          </a:solidFill>
          <a:ln/>
        </p:spPr>
      </p:sp>
      <p:sp>
        <p:nvSpPr>
          <p:cNvPr id="51" name="Text 49"/>
          <p:cNvSpPr/>
          <p:nvPr/>
        </p:nvSpPr>
        <p:spPr>
          <a:xfrm>
            <a:off x="352044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(V×N)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498080" y="18288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AB14C"/>
          </a:solidFill>
          <a:ln/>
        </p:spPr>
      </p:sp>
      <p:sp>
        <p:nvSpPr>
          <p:cNvPr id="53" name="Text 51"/>
          <p:cNvSpPr/>
          <p:nvPr/>
        </p:nvSpPr>
        <p:spPr>
          <a:xfrm>
            <a:off x="74980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W'  (N×V)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« peu profond » : une seule couche cachée, linéaire (sans activation). Tout le savoir vit dans les poids W et W'.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 · L'ENTRÉE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mot = un vecteur one-hot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mot du vocabulaire reçoit une position. Le mot d'entrée est codé par un vecteur plein de 0 avec un seul 1 — un seul neurone d'entrée s'active.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(V = 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3F6F7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6432" y="267919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C2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101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3F6F7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10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56432" y="33375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C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96849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B14C"/>
          </a:solidFill>
          <a:ln w="12700">
            <a:solidFill>
              <a:srgbClr val="EAB1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684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56432" y="3995928"/>
            <a:ext cx="402336" cy="402336"/>
          </a:xfrm>
          <a:prstGeom prst="ellipse">
            <a:avLst/>
          </a:prstGeom>
          <a:solidFill>
            <a:srgbClr val="EAB14C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626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626864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3F6F7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6268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56432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C2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285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28523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3F6F7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285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56432" y="53126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7C2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22860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2468880"/>
            <a:ext cx="6675120" cy="3291840"/>
          </a:xfrm>
          <a:prstGeom prst="roundRect">
            <a:avLst>
              <a:gd name="adj" fmla="val 2778"/>
            </a:avLst>
          </a:prstGeom>
          <a:solidFill>
            <a:srgbClr val="F3F6F7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2697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d'entrée : </a:t>
            </a:r>
            <a:r>
              <a:rPr lang="en-US" sz="16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mange 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2004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[ 0,  0,  1,  0,  0 ]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12080" y="379476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 1 est en position 2 (le mot « mange »).
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Aucune information de sens : juste « quel mot ».
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Très grand et creux : une dimension par mot du vocabulaire (ici 5, en pratique des dizaines de milliers).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· LA COUCHE CACHÉE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secret : h recopie une ligne de 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l'entrée est un one-hot, le produit x · W ne fait que SÉLECTIONNER une ligne de la matrice W. Cette ligne EST le vecteur du mot.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57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457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6382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75888"/>
            <a:ext cx="457200" cy="438912"/>
          </a:xfrm>
          <a:prstGeom prst="rect">
            <a:avLst/>
          </a:prstGeom>
          <a:solidFill>
            <a:srgbClr val="EAB14C"/>
          </a:solidFill>
          <a:ln w="12700">
            <a:solidFill>
              <a:srgbClr val="EAB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75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87952"/>
            <a:ext cx="457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879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00016"/>
            <a:ext cx="457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000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6758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 (5 lignes × 3 colonnes)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65176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6517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265176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6517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2651760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6517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26517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3163824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16382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97480" y="3163824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16382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66160" y="3163824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16382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31638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chat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0" y="3675888"/>
            <a:ext cx="868680" cy="438912"/>
          </a:xfrm>
          <a:prstGeom prst="rect">
            <a:avLst/>
          </a:prstGeom>
          <a:solidFill>
            <a:srgbClr val="FBE6BE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97480" y="3675888"/>
            <a:ext cx="868680" cy="438912"/>
          </a:xfrm>
          <a:prstGeom prst="rect">
            <a:avLst/>
          </a:prstGeom>
          <a:solidFill>
            <a:srgbClr val="FBE6BE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566160" y="3675888"/>
            <a:ext cx="868680" cy="438912"/>
          </a:xfrm>
          <a:prstGeom prst="rect">
            <a:avLst/>
          </a:prstGeom>
          <a:solidFill>
            <a:srgbClr val="FBE6BE"/>
          </a:solidFill>
          <a:ln w="19050">
            <a:solidFill>
              <a:srgbClr val="EAB1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B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26280" y="3675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mange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28800" y="418795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0" y="418795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97480" y="418795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418795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66160" y="4187952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418795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26280" y="41879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0" y="470001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47000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97480" y="470001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47000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566160" y="4700016"/>
            <a:ext cx="868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470001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26280" y="47000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souris</a:t>
            </a:r>
            <a:endParaRPr lang="en-US" sz="120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30168"/>
            <a:ext cx="502920" cy="50292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67665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766560" y="3675888"/>
            <a:ext cx="868680" cy="438912"/>
          </a:xfrm>
          <a:prstGeom prst="rect">
            <a:avLst/>
          </a:prstGeom>
          <a:solidFill>
            <a:srgbClr val="EAB1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76656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-0.4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7635240" y="3675888"/>
            <a:ext cx="868680" cy="438912"/>
          </a:xfrm>
          <a:prstGeom prst="rect">
            <a:avLst/>
          </a:prstGeom>
          <a:solidFill>
            <a:srgbClr val="EAB1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63524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8503920" y="3675888"/>
            <a:ext cx="868680" cy="438912"/>
          </a:xfrm>
          <a:prstGeom prst="rect">
            <a:avLst/>
          </a:prstGeom>
          <a:solidFill>
            <a:srgbClr val="EAB1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0392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6766560" y="4178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vecteur de « mange »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48640" y="55321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E2A33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79008"/>
            <a:ext cx="457200" cy="457200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1417320" y="55321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W n'est rien d'autre que la </a:t>
            </a: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embeddings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Chaque ligne = le vecteur d'un mot. La couche cachée n'apprend qu'à remplir cette table.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 · LA SORTIE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 : une probabilité par mot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cachée h passe par la 2ᵉ matrice W', donnant un score pour chaque mot du vocabulaire. Le softmax transforme ces scores en probabilités qui somment à 1.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E2A33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P(mot</a:t>
            </a:r>
            <a:r>
              <a:rPr lang="en-US" sz="17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softmax(h · W')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prédit la probabilité que chaque mot du vocabulaire soit un </a:t>
            </a:r>
            <a:r>
              <a:rPr lang="en-US" sz="15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</a:t>
            </a: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mot d'entrée « mange ».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entraînement, les vrais voisins (chat, la) reçoivent les plus fortes probabilités.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2377440"/>
            <a:ext cx="5669280" cy="3840480"/>
          </a:xfrm>
          <a:prstGeom prst="roundRect">
            <a:avLst>
              <a:gd name="adj" fmla="val 2381"/>
            </a:avLst>
          </a:prstGeom>
          <a:solidFill>
            <a:srgbClr val="F3F6F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pour l'entrée « mange 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3108960"/>
            <a:ext cx="3108960" cy="310896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3108960"/>
            <a:ext cx="888274" cy="310896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3675888"/>
            <a:ext cx="3108960" cy="310896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675888"/>
            <a:ext cx="2931305" cy="3108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0" y="3630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197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4242816"/>
            <a:ext cx="3108960" cy="310896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4242816"/>
            <a:ext cx="355310" cy="310896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4197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4764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4809744"/>
            <a:ext cx="3108960" cy="310896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4809744"/>
            <a:ext cx="2664823" cy="3108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0" y="47640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5330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5376672"/>
            <a:ext cx="3108960" cy="310896"/>
          </a:xfrm>
          <a:prstGeom prst="rect">
            <a:avLst/>
          </a:prstGeom>
          <a:solidFill>
            <a:srgbClr val="E3EA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5376672"/>
            <a:ext cx="2043031" cy="310896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0" y="5330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« chat » et « la » ressortent — ce sont les voisins réels.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Skip-gram : le mot central prédit ses voisins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194560" y="2468880"/>
            <a:ext cx="3657600" cy="64008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468880"/>
            <a:ext cx="3657600" cy="146304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468880"/>
            <a:ext cx="3657600" cy="228600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194560" y="3108960"/>
            <a:ext cx="3657600" cy="9144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3200400"/>
            <a:ext cx="3657600" cy="73152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200400"/>
            <a:ext cx="3657600" cy="155448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94560" y="3108960"/>
            <a:ext cx="3657600" cy="82296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194560" y="3931920"/>
            <a:ext cx="3657600" cy="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931920"/>
            <a:ext cx="3657600" cy="82296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194560" y="3108960"/>
            <a:ext cx="3657600" cy="155448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94560" y="3931920"/>
            <a:ext cx="3657600" cy="73152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4663440"/>
            <a:ext cx="3657600" cy="9144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94560" y="3108960"/>
            <a:ext cx="3657600" cy="228600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194560" y="3931920"/>
            <a:ext cx="3657600" cy="146304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194560" y="4754880"/>
            <a:ext cx="3657600" cy="640080"/>
          </a:xfrm>
          <a:prstGeom prst="line">
            <a:avLst/>
          </a:prstGeom>
          <a:noFill/>
          <a:ln w="7620">
            <a:solidFill>
              <a:srgbClr val="1B9AA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852160" y="2468880"/>
            <a:ext cx="3657600" cy="6400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108960"/>
            <a:ext cx="3657600" cy="914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108960"/>
            <a:ext cx="3657600" cy="82296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108960"/>
            <a:ext cx="3657600" cy="15544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3108960"/>
            <a:ext cx="3657600" cy="228600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852160" y="2468880"/>
            <a:ext cx="3657600" cy="14630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852160" y="3200400"/>
            <a:ext cx="3657600" cy="73152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3931920"/>
            <a:ext cx="3657600" cy="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931920"/>
            <a:ext cx="3657600" cy="73152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3931920"/>
            <a:ext cx="3657600" cy="14630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852160" y="2468880"/>
            <a:ext cx="3657600" cy="228600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852160" y="3200400"/>
            <a:ext cx="3657600" cy="15544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52160" y="3931920"/>
            <a:ext cx="3657600" cy="82296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852160" y="4663440"/>
            <a:ext cx="3657600" cy="914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4754880"/>
            <a:ext cx="3657600" cy="6400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3392" y="226771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1B9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93392" y="299923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1B9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93392" y="3730752"/>
            <a:ext cx="402336" cy="402336"/>
          </a:xfrm>
          <a:prstGeom prst="ellipse">
            <a:avLst/>
          </a:prstGeom>
          <a:solidFill>
            <a:srgbClr val="EAB14C"/>
          </a:solidFill>
          <a:ln w="17780">
            <a:solidFill>
              <a:srgbClr val="1B9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3392" y="446227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1B9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93392" y="519379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1B9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2704" y="288950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32704" y="371246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2704" y="453542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08592" y="226771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08592" y="2999232"/>
            <a:ext cx="402336" cy="402336"/>
          </a:xfrm>
          <a:prstGeom prst="ellipse">
            <a:avLst/>
          </a:prstGeom>
          <a:solidFill>
            <a:srgbClr val="2A9D8F"/>
          </a:solidFill>
          <a:ln w="17780">
            <a:solidFill>
              <a:srgbClr val="2A9D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08592" y="373075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4462272"/>
            <a:ext cx="402336" cy="402336"/>
          </a:xfrm>
          <a:prstGeom prst="ellipse">
            <a:avLst/>
          </a:prstGeom>
          <a:solidFill>
            <a:srgbClr val="2A9D8F"/>
          </a:solidFill>
          <a:ln w="17780">
            <a:solidFill>
              <a:srgbClr val="2A9D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08592" y="519379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304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829800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0080" y="3035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829800" y="30358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829800" y="37673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0080" y="4498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9829800" y="4498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40080" y="5230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829800" y="5230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4008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mot central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3776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voisins prédits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60807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3F6F7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 </a:t>
            </a:r>
            <a:r>
              <a:rPr lang="en-US" sz="15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prédire  </a:t>
            </a:r>
            <a:r>
              <a:rPr lang="en-US" sz="15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chat , la }</a:t>
            </a:r>
            <a:r>
              <a:rPr lang="en-US" sz="15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idéal pour les mots rares.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CBOW : les voisins prédisent le mot central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194560" y="2468880"/>
            <a:ext cx="3657600" cy="64008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468880"/>
            <a:ext cx="3657600" cy="146304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468880"/>
            <a:ext cx="3657600" cy="228600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194560" y="3108960"/>
            <a:ext cx="3657600" cy="9144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3200400"/>
            <a:ext cx="3657600" cy="73152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200400"/>
            <a:ext cx="3657600" cy="155448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94560" y="3108960"/>
            <a:ext cx="3657600" cy="82296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194560" y="3931920"/>
            <a:ext cx="3657600" cy="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931920"/>
            <a:ext cx="3657600" cy="82296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194560" y="3108960"/>
            <a:ext cx="3657600" cy="155448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94560" y="3931920"/>
            <a:ext cx="3657600" cy="73152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4663440"/>
            <a:ext cx="3657600" cy="9144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94560" y="3108960"/>
            <a:ext cx="3657600" cy="228600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194560" y="3931920"/>
            <a:ext cx="3657600" cy="146304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194560" y="4754880"/>
            <a:ext cx="3657600" cy="640080"/>
          </a:xfrm>
          <a:prstGeom prst="line">
            <a:avLst/>
          </a:prstGeom>
          <a:noFill/>
          <a:ln w="762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852160" y="2468880"/>
            <a:ext cx="3657600" cy="6400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108960"/>
            <a:ext cx="3657600" cy="914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108960"/>
            <a:ext cx="3657600" cy="82296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108960"/>
            <a:ext cx="3657600" cy="15544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3108960"/>
            <a:ext cx="3657600" cy="228600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852160" y="2468880"/>
            <a:ext cx="3657600" cy="14630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852160" y="3200400"/>
            <a:ext cx="3657600" cy="73152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3931920"/>
            <a:ext cx="3657600" cy="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931920"/>
            <a:ext cx="3657600" cy="73152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3931920"/>
            <a:ext cx="3657600" cy="14630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852160" y="2468880"/>
            <a:ext cx="3657600" cy="228600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852160" y="3200400"/>
            <a:ext cx="3657600" cy="15544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52160" y="3931920"/>
            <a:ext cx="3657600" cy="82296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852160" y="4663440"/>
            <a:ext cx="3657600" cy="9144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4754880"/>
            <a:ext cx="3657600" cy="640080"/>
          </a:xfrm>
          <a:prstGeom prst="line">
            <a:avLst/>
          </a:prstGeom>
          <a:noFill/>
          <a:ln w="7620">
            <a:solidFill>
              <a:srgbClr val="EAB14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93392" y="226771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93392" y="2999232"/>
            <a:ext cx="402336" cy="402336"/>
          </a:xfrm>
          <a:prstGeom prst="ellipse">
            <a:avLst/>
          </a:prstGeom>
          <a:solidFill>
            <a:srgbClr val="2A9D8F"/>
          </a:solidFill>
          <a:ln w="17780">
            <a:solidFill>
              <a:srgbClr val="2A9D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93392" y="373075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3392" y="4462272"/>
            <a:ext cx="402336" cy="402336"/>
          </a:xfrm>
          <a:prstGeom prst="ellipse">
            <a:avLst/>
          </a:prstGeom>
          <a:solidFill>
            <a:srgbClr val="2A9D8F"/>
          </a:solidFill>
          <a:ln w="17780">
            <a:solidFill>
              <a:srgbClr val="2A9D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93392" y="519379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2704" y="288950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32704" y="371246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2704" y="4535424"/>
            <a:ext cx="438912" cy="438912"/>
          </a:xfrm>
          <a:prstGeom prst="ellipse">
            <a:avLst/>
          </a:prstGeom>
          <a:solidFill>
            <a:srgbClr val="1B9AA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08592" y="226771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08592" y="299923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08592" y="3730752"/>
            <a:ext cx="402336" cy="402336"/>
          </a:xfrm>
          <a:prstGeom prst="ellipse">
            <a:avLst/>
          </a:prstGeom>
          <a:solidFill>
            <a:srgbClr val="EAB14C"/>
          </a:solidFill>
          <a:ln w="17780">
            <a:solidFill>
              <a:srgbClr val="EAB1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8592" y="446227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08592" y="5193792"/>
            <a:ext cx="402336" cy="402336"/>
          </a:xfrm>
          <a:prstGeom prst="ellipse">
            <a:avLst/>
          </a:prstGeom>
          <a:solidFill>
            <a:srgbClr val="F3F6F7"/>
          </a:solidFill>
          <a:ln w="17780">
            <a:solidFill>
              <a:srgbClr val="DDE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304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829800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0080" y="3035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829800" y="30358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" y="3767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829800" y="37673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0080" y="4498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9829800" y="4498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40080" y="5230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829800" y="52303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souris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5720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voisins (moyennés)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3776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mot central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60807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3F6F7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 </a:t>
            </a:r>
            <a:r>
              <a:rPr lang="en-US" sz="15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chat , la }</a:t>
            </a: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prédire  </a:t>
            </a:r>
            <a:r>
              <a:rPr lang="en-US" sz="1500" b="1" dirty="0">
                <a:solidFill>
                  <a:srgbClr val="EAB1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mange</a:t>
            </a:r>
            <a:r>
              <a:rPr lang="en-US" sz="1500" i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plus rapide, robuste sur les grands corpus.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L'ENTRAÎNEMENT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Ajuster les poids par rétropropagation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1024128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665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48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Propagation avant
</a:t>
            </a: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prédit une distribution de probabilités sur les mots voisins.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6035040" cy="1024128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2644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44368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Mesure de l'erreur
</a:t>
            </a: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compare la prédiction au vrai voisin (perte d'entropie croisée).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014216"/>
            <a:ext cx="6035040" cy="1024128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379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59936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Rétropropagation
</a:t>
            </a: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remonte et ajuste légèrement W et W' (descente de gradient).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5129784"/>
            <a:ext cx="6035040" cy="1024128"/>
          </a:xfrm>
          <a:prstGeom prst="rect">
            <a:avLst/>
          </a:prstGeom>
          <a:solidFill>
            <a:srgbClr val="F3F6F7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5E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49554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75504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Répétition
</a:t>
            </a: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de paires (mot, voisin) → les poids se stabilisent.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858000" y="17830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0E2A33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08660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(entropie croisée)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08660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=  − log P( voisin réel )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6858000" y="3337560"/>
            <a:ext cx="4754880" cy="2880360"/>
          </a:xfrm>
          <a:prstGeom prst="roundRect">
            <a:avLst>
              <a:gd name="adj" fmla="val 3175"/>
            </a:avLst>
          </a:prstGeom>
          <a:solidFill>
            <a:srgbClr val="F3F6F7"/>
          </a:solidFill>
          <a:ln/>
        </p:spPr>
      </p:sp>
      <p:sp>
        <p:nvSpPr>
          <p:cNvPr id="24" name="Text 18"/>
          <p:cNvSpPr/>
          <p:nvPr/>
        </p:nvSpPr>
        <p:spPr>
          <a:xfrm>
            <a:off x="70866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géométrique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086600" y="3886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mise à jour, le vecteur d'un mot est tiré vers ses mots de contexte.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534656" y="5065776"/>
            <a:ext cx="292608" cy="292608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37960" y="5074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10460736" y="4882896"/>
            <a:ext cx="292608" cy="292608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78992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chien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 flipV="1">
            <a:off x="7863840" y="5047488"/>
            <a:ext cx="2560320" cy="146304"/>
          </a:xfrm>
          <a:prstGeom prst="line">
            <a:avLst/>
          </a:prstGeom>
          <a:noFill/>
          <a:ln w="12700">
            <a:solidFill>
              <a:srgbClr val="B7C2C7">
                <a:alpha val="70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892040"/>
            <a:ext cx="365760" cy="365760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920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86600" y="5532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aux contextes semblables → vecteurs rapprochés. C'est là que naît la sémantique.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L'OPTIMISATION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sampling : éviter le softmax géant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BEE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softmax calcule une probabilité sur 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vocabulaire</a:t>
            </a: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(souvent &gt; 1 000 000 de mots) à chaque pas. Beaucoup trop coûteux.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3F6F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22960" y="44348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remplace la question « quel mot parmi tous ? » par un simple </a:t>
            </a: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/ faux</a:t>
            </a:r>
            <a:r>
              <a:rPr lang="en-US" sz="13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
•  la vraie paire (mange, chat) → cible 1
•  k paires au hasard (mange, pizza)… → cible 0
</a:t>
            </a:r>
            <a:r>
              <a:rPr lang="en-US" sz="13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met à jour que k + 1 neurones de sortie au lieu de V.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E2A33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B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l'entrée « mange »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92240" y="251460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12343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2514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569464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860536" y="2560320"/>
            <a:ext cx="475488" cy="475488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860536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509760" y="2514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voisin réel  (positif)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92240" y="3227832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12343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92240" y="3227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pizza</a:t>
            </a:r>
            <a:endParaRPr lang="en-US" sz="15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28269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860536" y="3273552"/>
            <a:ext cx="475488" cy="475488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860536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509760" y="32278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au hasard  (négatif)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92240" y="3941064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12343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92240" y="39410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avion</a:t>
            </a:r>
            <a:endParaRPr lang="en-US" sz="15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995928"/>
            <a:ext cx="457200" cy="4572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860536" y="3986784"/>
            <a:ext cx="475488" cy="475488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860536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509760" y="39410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au hasard  (négatif)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492240" y="4654296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12343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492240" y="46542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lundi</a:t>
            </a:r>
            <a:endParaRPr lang="en-US" sz="15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709160"/>
            <a:ext cx="457200" cy="4572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860536" y="4700016"/>
            <a:ext cx="475488" cy="475488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860536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9509760" y="46542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au hasard  (négatif)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492240" y="5486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Typiquement k = 5 à 20 négatifs. Entraînement des centaines de fois plus rapide, sans perte de qualité.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3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ça marche — et quelle matrice on garde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3F6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7A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logique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mots qui apparaissent dans les mêmes contextes reçoivent les mêmes « bonnes réponses » pendant l'entraînement.
Le réseau ajuste donc leurs lignes de W de façon similaire.
→  Résultat : </a:t>
            </a:r>
            <a:r>
              <a:rPr lang="en-US" sz="1450" b="1" dirty="0">
                <a:solidFill>
                  <a:srgbClr val="15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contextes proches ⇒ vecteurs proches</a:t>
            </a:r>
            <a:r>
              <a:rPr lang="en-US" sz="145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L'hypothèse distributionnelle, réalisée par descente de gradient.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783080"/>
            <a:ext cx="5303520" cy="10972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2103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5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(entrée → cachée)
</a:t>
            </a: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 GARDE.  Ses lignes sont les vecteurs-mots finaux — la table d'embeddings.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309360" y="406908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B7C2C7"/>
            </a:solidFill>
            <a:prstDash val="solid"/>
          </a:ln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4069080"/>
            <a:ext cx="5303520" cy="109728"/>
          </a:xfrm>
          <a:prstGeom prst="rect">
            <a:avLst/>
          </a:prstGeom>
          <a:solidFill>
            <a:srgbClr val="B7C2C7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5F74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W'  (cachée → sortie)
</a:t>
            </a: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 JETTE.  Elle n'a servi qu'à la fausse tâche de prédiction pendant l'entraînement.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97680"/>
            <a:ext cx="3840480" cy="3840480"/>
          </a:xfrm>
          <a:prstGeom prst="ellipse">
            <a:avLst/>
          </a:prstGeom>
          <a:solidFill>
            <a:srgbClr val="1B9AA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EAB14C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A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en quatre idées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680960" cy="960120"/>
          </a:xfrm>
          <a:prstGeom prst="roundRect">
            <a:avLst>
              <a:gd name="adj" fmla="val 9524"/>
            </a:avLst>
          </a:prstGeom>
          <a:solidFill>
            <a:srgbClr val="12343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585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75104"/>
            <a:ext cx="6583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peu profond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one-hot → couche cachée linéaire → sortie softmax. Deux matrices de poids, W et W'.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980944"/>
            <a:ext cx="7680960" cy="960120"/>
          </a:xfrm>
          <a:prstGeom prst="roundRect">
            <a:avLst>
              <a:gd name="adj" fmla="val 9524"/>
            </a:avLst>
          </a:prstGeom>
          <a:solidFill>
            <a:srgbClr val="12343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2369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3192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035808"/>
            <a:ext cx="6583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cachée = les embeddings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l'entrée est un one-hot, h sélectionne une ligne de W. Cette ligne est le vecteur du mot.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4041648"/>
            <a:ext cx="7680960" cy="960120"/>
          </a:xfrm>
          <a:prstGeom prst="roundRect">
            <a:avLst>
              <a:gd name="adj" fmla="val 9524"/>
            </a:avLst>
          </a:prstGeom>
          <a:solidFill>
            <a:srgbClr val="12343F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379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96512"/>
            <a:ext cx="6583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fausse tâche, de vrais poids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entraîne le réseau à prédire le contexte ; ce sont les poids appris (W) qu'on conserve.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5102352"/>
            <a:ext cx="7680960" cy="960120"/>
          </a:xfrm>
          <a:prstGeom prst="roundRect">
            <a:avLst>
              <a:gd name="adj" fmla="val 9524"/>
            </a:avLst>
          </a:prstGeom>
          <a:solidFill>
            <a:srgbClr val="12343F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53583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4406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57216"/>
            <a:ext cx="6583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sampling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transforme le softmax géant en petits vrai/faux : entraînement rapide et passable à l'échelle.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595360" y="1920240"/>
            <a:ext cx="2971800" cy="4114800"/>
          </a:xfrm>
          <a:prstGeom prst="roundRect">
            <a:avLst>
              <a:gd name="adj" fmla="val 3077"/>
            </a:avLst>
          </a:prstGeom>
          <a:solidFill>
            <a:srgbClr val="1B9AAA"/>
          </a:solidFill>
          <a:ln/>
          <a:effectLst>
            <a:outerShdw blurRad="114300" dist="38100" dir="8100000" algn="bl" rotWithShape="0">
              <a:srgbClr val="0E2A33">
                <a:alpha val="16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1945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696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lien avec le deep learning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8869680" y="36118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W est exactement la couche </a:t>
            </a:r>
            <a:r>
              <a:rPr lang="en-US" sz="1250" b="1" dirty="0">
                <a:solidFill>
                  <a:srgbClr val="0E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vous initialisez dans Keras.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suivantes : GloVe, FastText, puis les embeddings contextuels (BERT).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263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AB1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On n'entraîne pas le réseau pour ses prédictions, mais pour les vecteurs qu'il fabrique en chemin. »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Microsoft Office PowerPoint</Application>
  <PresentationFormat>Grand écran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Word2Vec — le réseau de neurones</dc:title>
  <dc:subject>PptxGenJS Presentation</dc:subject>
  <dc:creator>Séminaire NLP</dc:creator>
  <cp:lastModifiedBy>Alioune Nar SAMBE</cp:lastModifiedBy>
  <cp:revision>2</cp:revision>
  <dcterms:created xsi:type="dcterms:W3CDTF">2026-05-22T05:43:35Z</dcterms:created>
  <dcterms:modified xsi:type="dcterms:W3CDTF">2026-05-22T09:32:51Z</dcterms:modified>
</cp:coreProperties>
</file>