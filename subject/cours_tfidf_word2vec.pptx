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B9AAA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3931920"/>
            <a:ext cx="3108960" cy="3108960"/>
          </a:xfrm>
          <a:prstGeom prst="ellipse">
            <a:avLst/>
          </a:prstGeom>
          <a:solidFill>
            <a:srgbClr val="EAB14C">
              <a:alpha val="14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2148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AB1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D'INTRODUCTION AU NLP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542032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Représenter le texte en nombres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548640" y="3429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B1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TF-IDF</a:t>
            </a:r>
            <a:pPr indent="0" marL="0">
              <a:buNone/>
            </a:pPr>
            <a:r>
              <a:rPr lang="en-US" sz="3400" b="1" dirty="0">
                <a:solidFill>
                  <a:srgbClr val="B7C2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&amp;  </a:t>
            </a:r>
            <a:pPr indent="0" marL="0">
              <a:buNone/>
            </a:pPr>
            <a:r>
              <a:rPr lang="en-US" sz="3400" b="1" dirty="0">
                <a:solidFill>
                  <a:srgbClr val="1B9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Word2Vec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66928" y="42976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simple comptage de mots à la capture du sens — expliqué avec des exemples simples.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66928" y="5212080"/>
            <a:ext cx="1444752" cy="420624"/>
          </a:xfrm>
          <a:prstGeom prst="roundRect">
            <a:avLst>
              <a:gd name="adj" fmla="val 50000"/>
            </a:avLst>
          </a:prstGeom>
          <a:solidFill>
            <a:srgbClr val="12343F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521208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Bag-of-Words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240280" y="5212080"/>
            <a:ext cx="1060704" cy="420624"/>
          </a:xfrm>
          <a:prstGeom prst="roundRect">
            <a:avLst>
              <a:gd name="adj" fmla="val 50000"/>
            </a:avLst>
          </a:prstGeom>
          <a:solidFill>
            <a:srgbClr val="12343F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40280" y="5212080"/>
            <a:ext cx="1060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· IDF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529584" y="5212080"/>
            <a:ext cx="1252728" cy="420624"/>
          </a:xfrm>
          <a:prstGeom prst="roundRect">
            <a:avLst>
              <a:gd name="adj" fmla="val 50000"/>
            </a:avLst>
          </a:prstGeom>
          <a:solidFill>
            <a:srgbClr val="12343F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29584" y="5212080"/>
            <a:ext cx="125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10912" y="5212080"/>
            <a:ext cx="1252728" cy="420624"/>
          </a:xfrm>
          <a:prstGeom prst="roundRect">
            <a:avLst>
              <a:gd name="adj" fmla="val 50000"/>
            </a:avLst>
          </a:prstGeom>
          <a:solidFill>
            <a:srgbClr val="12343F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10912" y="5212080"/>
            <a:ext cx="125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Similarité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POINT DE DÉPART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transformer le texte en nombres 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algorithme ne « lit » pas les mots — il calcule sur des </a:t>
            </a:r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5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vecteurs de nombres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la question du NLP « classique » : comment encoder une phrase ou un document en vecteur, en perdant le moins d'information utile possible 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5120640" cy="960120"/>
          </a:xfrm>
          <a:prstGeom prst="rect">
            <a:avLst/>
          </a:prstGeom>
          <a:solidFill>
            <a:srgbClr val="F3F6F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840480"/>
            <a:ext cx="91440" cy="960120"/>
          </a:xfrm>
          <a:prstGeom prst="rect">
            <a:avLst/>
          </a:prstGeom>
          <a:solidFill>
            <a:srgbClr val="EAB14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84048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fréquentielle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compter les mots — TF-IDF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983480"/>
            <a:ext cx="5120640" cy="960120"/>
          </a:xfrm>
          <a:prstGeom prst="rect">
            <a:avLst/>
          </a:prstGeom>
          <a:solidFill>
            <a:srgbClr val="F3F6F7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4983480"/>
            <a:ext cx="91440" cy="96012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98348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sémantique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apprendre le sens — Word2Vec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0" y="182880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38100" dir="8100000">
              <a:srgbClr val="0E2A33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22860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 le chat dort »</a:t>
            </a:r>
            <a:endParaRPr lang="en-US" sz="1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8778240" y="2926080"/>
            <a:ext cx="457200" cy="457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635240" y="352044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B9AAA"/>
          </a:solidFill>
          <a:ln/>
        </p:spPr>
      </p:sp>
      <p:sp>
        <p:nvSpPr>
          <p:cNvPr id="16" name="Text 13"/>
          <p:cNvSpPr/>
          <p:nvPr/>
        </p:nvSpPr>
        <p:spPr>
          <a:xfrm>
            <a:off x="763524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vectorisation</a:t>
            </a:r>
            <a:endParaRPr lang="en-US" sz="14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778240" y="406908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76656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B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[ 0.21,  -0.83,  1.04,  0.05,  … ]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400800" y="5486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des nombres porteurs d'information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BRIQUE DE 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Bag-of-Words : on compte les mots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ignore l'ordre et la grammaire : un document devient un simple « sac de mots » où l'on note combien de fois chaque mot du vocabulaire apparaît.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F3F6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mini-corpus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3154680"/>
            <a:ext cx="502920" cy="50292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3154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 le chat mange »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3904488"/>
            <a:ext cx="502920" cy="50292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39044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 le chien mange »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4654296"/>
            <a:ext cx="502920" cy="50292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654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46542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 le chat dort 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5440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documents · vocabulaire de 5 mots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2651760"/>
          <a:ext cx="7315200" cy="2468880"/>
        </p:xfrm>
        <a:graphic>
          <a:graphicData uri="http://schemas.openxmlformats.org/drawingml/2006/table">
            <a:tbl>
              <a:tblPr/>
              <a:tblGrid>
                <a:gridCol w="868680"/>
                <a:gridCol w="1289304"/>
                <a:gridCol w="1289304"/>
                <a:gridCol w="1289304"/>
                <a:gridCol w="1289304"/>
                <a:gridCol w="1289304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chat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mange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chien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dort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A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6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6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6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7C2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7C2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A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6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7C2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6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6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7C2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A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6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6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7C2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7C2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6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F3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297680" y="5349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ligne = un vecteur du document.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« le » est partout → peu informatif. C'est ce que TF-IDF va corriger.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· ÉTAPE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 — fréquence du terme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quel point un mot est-il présent dans CE document ?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233172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38100" dir="8100000">
              <a:srgbClr val="0E2A33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233172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TF(mot, doc)  =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200400" y="26060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B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occurrences du mot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37560" y="3026664"/>
            <a:ext cx="2423160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3200400" y="30632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 total de mots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39502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un mot est répété, plus son TF est élevé.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0" y="233172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3F6F7"/>
          </a:solidFill>
          <a:ln/>
        </p:spPr>
      </p:sp>
      <p:sp>
        <p:nvSpPr>
          <p:cNvPr id="13" name="Text 10"/>
          <p:cNvSpPr/>
          <p:nvPr/>
        </p:nvSpPr>
        <p:spPr>
          <a:xfrm>
            <a:off x="6675120" y="2514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— </a:t>
            </a:r>
            <a:pPr indent="0" marL="0">
              <a:buNone/>
            </a:pPr>
            <a:r>
              <a:rPr lang="en-US" sz="1450" b="1" dirty="0">
                <a:solidFill>
                  <a:srgbClr val="15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D3 = « le chat dort »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675120" y="2926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mots au total, chacun apparaît 1 fois :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675120" y="3383280"/>
            <a:ext cx="46634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0" y="33832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412480" y="33832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784080" y="33832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5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0.33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675120" y="4041648"/>
            <a:ext cx="46634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0" y="404164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412480" y="404164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784080" y="404164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5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0.33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675120" y="4700016"/>
            <a:ext cx="46634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0" y="470001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dort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412480" y="470001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3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9784080" y="47000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5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0.33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675120" y="5440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Seul, le TF garde « le » à égalité avec « dort ». Insuffisant !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· ÉTAPE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IDF — rareté du terme dans le corpus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 rare est plus distinctif qu'un mot omniprésent.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233172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38100" dir="8100000">
              <a:srgbClr val="0E2A33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233172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IDF(mot)  =  log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291840" y="2331720"/>
            <a:ext cx="274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8FD3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3611880" y="2606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B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749040" y="3026664"/>
            <a:ext cx="1554480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3611880" y="3063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df(mot)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0" y="2331720"/>
            <a:ext cx="274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8FD3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548640" y="39319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AB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200" i="1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nb total de docs    </a:t>
            </a:r>
            <a:pPr indent="0" marL="0">
              <a:buNone/>
            </a:pPr>
            <a:r>
              <a:rPr lang="en-US" sz="1200" b="1" i="1" dirty="0">
                <a:solidFill>
                  <a:srgbClr val="15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</a:t>
            </a:r>
            <a:pPr indent="0" marL="0">
              <a:buNone/>
            </a:pPr>
            <a:r>
              <a:rPr lang="en-US" sz="1200" i="1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nb de docs contenant le mot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431596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dans TOUS les docs → log(1) = 0.   Mot rare → IDF élevé.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0" y="233172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3F6F7"/>
          </a:solidFill>
          <a:ln/>
        </p:spPr>
      </p:sp>
      <p:sp>
        <p:nvSpPr>
          <p:cNvPr id="16" name="Text 13"/>
          <p:cNvSpPr/>
          <p:nvPr/>
        </p:nvSpPr>
        <p:spPr>
          <a:xfrm>
            <a:off x="6675120" y="24871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 sur notre corpus  (N = 3 documents)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675120" y="2971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818120" y="3063240"/>
            <a:ext cx="2468880" cy="274320"/>
          </a:xfrm>
          <a:prstGeom prst="rect">
            <a:avLst/>
          </a:prstGeom>
          <a:solidFill>
            <a:srgbClr val="E3EAEC"/>
          </a:solidFill>
          <a:ln/>
        </p:spPr>
      </p:sp>
      <p:sp>
        <p:nvSpPr>
          <p:cNvPr id="19" name="Shape 16"/>
          <p:cNvSpPr/>
          <p:nvPr/>
        </p:nvSpPr>
        <p:spPr>
          <a:xfrm>
            <a:off x="7818120" y="3063240"/>
            <a:ext cx="49378" cy="274320"/>
          </a:xfrm>
          <a:prstGeom prst="rect">
            <a:avLst/>
          </a:prstGeom>
          <a:solidFill>
            <a:srgbClr val="B7C2C7"/>
          </a:solidFill>
          <a:ln/>
        </p:spPr>
      </p:sp>
      <p:sp>
        <p:nvSpPr>
          <p:cNvPr id="20" name="Text 17"/>
          <p:cNvSpPr/>
          <p:nvPr/>
        </p:nvSpPr>
        <p:spPr>
          <a:xfrm>
            <a:off x="10378440" y="29718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675120" y="35021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818120" y="3593592"/>
            <a:ext cx="2468880" cy="274320"/>
          </a:xfrm>
          <a:prstGeom prst="rect">
            <a:avLst/>
          </a:prstGeom>
          <a:solidFill>
            <a:srgbClr val="E3EAEC"/>
          </a:solidFill>
          <a:ln/>
        </p:spPr>
      </p:sp>
      <p:sp>
        <p:nvSpPr>
          <p:cNvPr id="23" name="Shape 20"/>
          <p:cNvSpPr/>
          <p:nvPr/>
        </p:nvSpPr>
        <p:spPr>
          <a:xfrm>
            <a:off x="7818120" y="3593592"/>
            <a:ext cx="938174" cy="27432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24" name="Text 21"/>
          <p:cNvSpPr/>
          <p:nvPr/>
        </p:nvSpPr>
        <p:spPr>
          <a:xfrm>
            <a:off x="10378440" y="350215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0.18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675120" y="403250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mange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818120" y="4123944"/>
            <a:ext cx="2468880" cy="274320"/>
          </a:xfrm>
          <a:prstGeom prst="rect">
            <a:avLst/>
          </a:prstGeom>
          <a:solidFill>
            <a:srgbClr val="E3EAEC"/>
          </a:solidFill>
          <a:ln/>
        </p:spPr>
      </p:sp>
      <p:sp>
        <p:nvSpPr>
          <p:cNvPr id="27" name="Shape 24"/>
          <p:cNvSpPr/>
          <p:nvPr/>
        </p:nvSpPr>
        <p:spPr>
          <a:xfrm>
            <a:off x="7818120" y="4123944"/>
            <a:ext cx="938174" cy="27432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28" name="Text 25"/>
          <p:cNvSpPr/>
          <p:nvPr/>
        </p:nvSpPr>
        <p:spPr>
          <a:xfrm>
            <a:off x="10378440" y="403250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0.18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675120" y="45628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chien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818120" y="4654296"/>
            <a:ext cx="2468880" cy="274320"/>
          </a:xfrm>
          <a:prstGeom prst="rect">
            <a:avLst/>
          </a:prstGeom>
          <a:solidFill>
            <a:srgbClr val="E3EAEC"/>
          </a:solidFill>
          <a:ln/>
        </p:spPr>
      </p:sp>
      <p:sp>
        <p:nvSpPr>
          <p:cNvPr id="31" name="Shape 28"/>
          <p:cNvSpPr/>
          <p:nvPr/>
        </p:nvSpPr>
        <p:spPr>
          <a:xfrm>
            <a:off x="7818120" y="4654296"/>
            <a:ext cx="2468880" cy="274320"/>
          </a:xfrm>
          <a:prstGeom prst="rect">
            <a:avLst/>
          </a:prstGeom>
          <a:solidFill>
            <a:srgbClr val="EAB14C"/>
          </a:solidFill>
          <a:ln/>
        </p:spPr>
      </p:sp>
      <p:sp>
        <p:nvSpPr>
          <p:cNvPr id="32" name="Text 29"/>
          <p:cNvSpPr/>
          <p:nvPr/>
        </p:nvSpPr>
        <p:spPr>
          <a:xfrm>
            <a:off x="10378440" y="456285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0.48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675120" y="50932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dort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7818120" y="5184648"/>
            <a:ext cx="2468880" cy="274320"/>
          </a:xfrm>
          <a:prstGeom prst="rect">
            <a:avLst/>
          </a:prstGeom>
          <a:solidFill>
            <a:srgbClr val="E3EAEC"/>
          </a:solidFill>
          <a:ln/>
        </p:spPr>
      </p:sp>
      <p:sp>
        <p:nvSpPr>
          <p:cNvPr id="35" name="Shape 32"/>
          <p:cNvSpPr/>
          <p:nvPr/>
        </p:nvSpPr>
        <p:spPr>
          <a:xfrm>
            <a:off x="7818120" y="5184648"/>
            <a:ext cx="2468880" cy="274320"/>
          </a:xfrm>
          <a:prstGeom prst="rect">
            <a:avLst/>
          </a:prstGeom>
          <a:solidFill>
            <a:srgbClr val="EAB14C"/>
          </a:solidFill>
          <a:ln/>
        </p:spPr>
      </p:sp>
      <p:sp>
        <p:nvSpPr>
          <p:cNvPr id="36" name="Text 33"/>
          <p:cNvSpPr/>
          <p:nvPr/>
        </p:nvSpPr>
        <p:spPr>
          <a:xfrm>
            <a:off x="10378440" y="509320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0.48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675120" y="5532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» → 0</a:t>
            </a:r>
            <a:pPr indent="0" marL="0">
              <a:buNone/>
            </a:pPr>
            <a:r>
              <a:rPr lang="en-US" sz="12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(ignoré)    </a:t>
            </a:r>
            <a:pPr indent="0" marL="0">
              <a:buNone/>
            </a:pPr>
            <a:r>
              <a:rPr lang="en-US" sz="1250" b="1" dirty="0">
                <a:solidFill>
                  <a:srgbClr val="15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chien », « dort » → distinctifs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· ÉTAPE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multiplie : TF × IDF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0E2A3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TF-IDF(mot, doc)  =  TF(mot, doc)  </a:t>
            </a:r>
            <a:pPr algn="ctr" indent="0" marL="0">
              <a:buNone/>
            </a:pPr>
            <a:r>
              <a:rPr lang="en-US" sz="2200" b="1" dirty="0">
                <a:solidFill>
                  <a:srgbClr val="EAB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</a:t>
            </a:r>
            <a:pPr algn="ctr" indent="0" marL="0">
              <a:buNone/>
            </a:pPr>
            <a:r>
              <a:rPr lang="en-US" sz="22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IDF(mot)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final pour D3 = « le chat dort »  →  le mot distinctif ressort, le mot vide disparaît 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114300" dist="38100" dir="8100000">
              <a:srgbClr val="0E2A33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3291840"/>
            <a:ext cx="3520440" cy="109728"/>
          </a:xfrm>
          <a:prstGeom prst="rect">
            <a:avLst/>
          </a:prstGeom>
          <a:solidFill>
            <a:srgbClr val="B7C2C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4747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 le »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14859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
</a:t>
            </a:r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00300" y="4069080"/>
            <a:ext cx="14859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IDF
</a:t>
            </a:r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4892040"/>
            <a:ext cx="2697480" cy="18288"/>
          </a:xfrm>
          <a:prstGeom prst="rect">
            <a:avLst/>
          </a:prstGeom>
          <a:solidFill>
            <a:srgbClr val="E3EAE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9834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algn="ctr" indent="0" marL="0">
              <a:buNone/>
            </a:pPr>
            <a:r>
              <a:rPr lang="en-US" sz="2600" b="1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5321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vide → éliminé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25112" y="329184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114300" dist="38100" dir="8100000">
              <a:srgbClr val="0E2A33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25112" y="3291840"/>
            <a:ext cx="3520440" cy="109728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17" name="Text 15"/>
          <p:cNvSpPr/>
          <p:nvPr/>
        </p:nvSpPr>
        <p:spPr>
          <a:xfrm>
            <a:off x="4325112" y="34747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 chat »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07992" y="4069080"/>
            <a:ext cx="14859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
</a:t>
            </a:r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6772" y="4069080"/>
            <a:ext cx="14859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IDF
</a:t>
            </a:r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36592" y="4892040"/>
            <a:ext cx="2697480" cy="18288"/>
          </a:xfrm>
          <a:prstGeom prst="rect">
            <a:avLst/>
          </a:prstGeom>
          <a:solidFill>
            <a:srgbClr val="E3EAEC"/>
          </a:solidFill>
          <a:ln/>
        </p:spPr>
      </p:sp>
      <p:sp>
        <p:nvSpPr>
          <p:cNvPr id="21" name="Text 19"/>
          <p:cNvSpPr/>
          <p:nvPr/>
        </p:nvSpPr>
        <p:spPr>
          <a:xfrm>
            <a:off x="4325112" y="49834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algn="ctr" indent="0" marL="0">
              <a:buNone/>
            </a:pPr>
            <a:r>
              <a:rPr lang="en-US" sz="2600" b="1" dirty="0">
                <a:solidFill>
                  <a:srgbClr val="15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25112" y="55321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moyennement utile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01584" y="329184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114300" dist="38100" dir="8100000">
              <a:srgbClr val="0E2A33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01584" y="3291840"/>
            <a:ext cx="3520440" cy="109728"/>
          </a:xfrm>
          <a:prstGeom prst="rect">
            <a:avLst/>
          </a:prstGeom>
          <a:solidFill>
            <a:srgbClr val="EAB14C"/>
          </a:solidFill>
          <a:ln/>
        </p:spPr>
      </p:sp>
      <p:sp>
        <p:nvSpPr>
          <p:cNvPr id="25" name="Text 23"/>
          <p:cNvSpPr/>
          <p:nvPr/>
        </p:nvSpPr>
        <p:spPr>
          <a:xfrm>
            <a:off x="8101584" y="34747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 dort »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284464" y="4069080"/>
            <a:ext cx="14859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
</a:t>
            </a:r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953244" y="4069080"/>
            <a:ext cx="14859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IDF
</a:t>
            </a:r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0.48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13064" y="4892040"/>
            <a:ext cx="2697480" cy="18288"/>
          </a:xfrm>
          <a:prstGeom prst="rect">
            <a:avLst/>
          </a:prstGeom>
          <a:solidFill>
            <a:srgbClr val="E3EAEC"/>
          </a:solidFill>
          <a:ln/>
        </p:spPr>
      </p:sp>
      <p:sp>
        <p:nvSpPr>
          <p:cNvPr id="29" name="Text 27"/>
          <p:cNvSpPr/>
          <p:nvPr/>
        </p:nvSpPr>
        <p:spPr>
          <a:xfrm>
            <a:off x="8101584" y="49834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algn="ctr" indent="0" marL="0">
              <a:buNone/>
            </a:pPr>
            <a:r>
              <a:rPr lang="en-US" sz="2600" b="1" dirty="0">
                <a:solidFill>
                  <a:srgbClr val="15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101584" y="55321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mot le plus distinctif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5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TF-IDF met automatiquement en avant les mots qui caractérisent un document.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 TF-IDF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Forces et limites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F3F6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Forces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269748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rapide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lignes de code, pas d'entraînement lourd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377647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Interprétable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dimension = un mot précis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14400" y="4855464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efficace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pour la recherche documentaire et le classement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172200" y="169164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FBEEE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9659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537960" y="269748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sens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voiture » et « auto » sont aussi éloignés que « voiture » et « banane »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537960" y="377647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l'ordre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chien mord » = « mord le chien »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537960" y="4855464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Vecteurs creux &amp; énormes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dimension par mot du vocabulaire (des milliers de zéros)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5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Pour capturer le SENS des mots, on change de paradigme : Word2Vec.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CHANGEMENT DE PARADIGME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Word2Vec : apprendre le sens des mots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1737360"/>
          </a:xfrm>
          <a:prstGeom prst="roundRect">
            <a:avLst>
              <a:gd name="adj" fmla="val 5263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38100" dir="8100000">
              <a:srgbClr val="0E2A33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On reconnaît un mot à ses fréquentations. »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2971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R. Firth, 1957 — l'idée fondatrice : le sens d'un mot vient de son contexte.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3657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mot devient un </a:t>
            </a: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5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vecteur dense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(ex. 100 nombres). Les mots de sens proche obtiennent des vecteurs proches.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48640" y="46177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Appris automatiquement sur un grand texte, sans aucune étiquette humaine (auto-supervisé).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0" y="169164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F3F6F7"/>
          </a:solidFill>
          <a:ln/>
        </p:spPr>
      </p:sp>
      <p:sp>
        <p:nvSpPr>
          <p:cNvPr id="11" name="Text 8"/>
          <p:cNvSpPr/>
          <p:nvPr/>
        </p:nvSpPr>
        <p:spPr>
          <a:xfrm>
            <a:off x="6675120" y="1874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magie : l'arithmétique des mots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720840" y="2514600"/>
            <a:ext cx="621792" cy="548640"/>
          </a:xfrm>
          <a:prstGeom prst="roundRect">
            <a:avLst>
              <a:gd name="adj" fmla="val 13333"/>
            </a:avLst>
          </a:prstGeom>
          <a:solidFill>
            <a:srgbClr val="1B9AAA"/>
          </a:solidFill>
          <a:ln/>
        </p:spPr>
      </p:sp>
      <p:sp>
        <p:nvSpPr>
          <p:cNvPr id="13" name="Text 10"/>
          <p:cNvSpPr/>
          <p:nvPr/>
        </p:nvSpPr>
        <p:spPr>
          <a:xfrm>
            <a:off x="6720840" y="2514600"/>
            <a:ext cx="62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roi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452360" y="2514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927848" y="2514600"/>
            <a:ext cx="841248" cy="54864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16" name="Text 13"/>
          <p:cNvSpPr/>
          <p:nvPr/>
        </p:nvSpPr>
        <p:spPr>
          <a:xfrm>
            <a:off x="7927848" y="2514600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homme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878824" y="2514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9354312" y="2514600"/>
            <a:ext cx="841248" cy="548640"/>
          </a:xfrm>
          <a:prstGeom prst="roundRect">
            <a:avLst>
              <a:gd name="adj" fmla="val 13333"/>
            </a:avLst>
          </a:prstGeom>
          <a:solidFill>
            <a:srgbClr val="EAB14C"/>
          </a:solidFill>
          <a:ln/>
        </p:spPr>
      </p:sp>
      <p:sp>
        <p:nvSpPr>
          <p:cNvPr id="19" name="Text 16"/>
          <p:cNvSpPr/>
          <p:nvPr/>
        </p:nvSpPr>
        <p:spPr>
          <a:xfrm>
            <a:off x="9354312" y="2514600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femme</a:t>
            </a:r>
            <a:endParaRPr lang="en-US" sz="15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732520" y="3246120"/>
            <a:ext cx="502920" cy="50292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8092440" y="3886200"/>
            <a:ext cx="1828800" cy="685800"/>
          </a:xfrm>
          <a:prstGeom prst="roundRect">
            <a:avLst>
              <a:gd name="adj" fmla="val 13333"/>
            </a:avLst>
          </a:prstGeom>
          <a:solidFill>
            <a:srgbClr val="2A9D8F"/>
          </a:solidFill>
          <a:ln/>
          <a:effectLst>
            <a:outerShdw sx="100000" sy="100000" kx="0" ky="0" algn="bl" rotWithShape="0" blurRad="114300" dist="38100" dir="8100000">
              <a:srgbClr val="0E2A33">
                <a:alpha val="16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8092440" y="38862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reine</a:t>
            </a:r>
            <a:endParaRPr lang="en-US" sz="1900" dirty="0"/>
          </a:p>
        </p:txBody>
      </p:sp>
      <p:sp>
        <p:nvSpPr>
          <p:cNvPr id="23" name="Text 19"/>
          <p:cNvSpPr/>
          <p:nvPr/>
        </p:nvSpPr>
        <p:spPr>
          <a:xfrm>
            <a:off x="6675120" y="48006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a appris la relation « masculin → féminin » comme une direction dans l'espace.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SOUS LE CAPOT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Word2Vec apprend : le contexte glissant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fait glisser une fenêtre sur le texte. Le modèle s'entraîne à relier un mot à ses voisins.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1097280" y="233172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E2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3317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17520" y="233172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E2F1F3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23317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EAB14C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3317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mange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0" y="233172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E2F1F3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23317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778240" y="233172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E2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0" y="23317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souris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017520" y="32004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5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 de contexte (± 1 mot)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9842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B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central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3F6F7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069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7A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Skip-gram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mot central prédit ses voisins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937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mange</a:t>
            </a:r>
            <a:pPr indent="0" marL="0">
              <a:buNone/>
            </a:pPr>
            <a:r>
              <a:rPr lang="en-US" sz="1500" dirty="0">
                <a:solidFill>
                  <a:srgbClr val="EAB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</a:t>
            </a:r>
            <a:pPr indent="0" marL="0">
              <a:buNone/>
            </a:pPr>
            <a:r>
              <a:rPr lang="en-US" sz="1500" b="1" dirty="0">
                <a:solidFill>
                  <a:srgbClr val="15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chat, la }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54864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pour les mots rares (utilisé dans le notebook).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388620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3F6F7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4069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7A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CBOW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46520" y="4480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voisins prédisent le mot central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46520" y="4937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chat, la }</a:t>
            </a:r>
            <a:pPr indent="0" marL="0">
              <a:buNone/>
            </a:pPr>
            <a:r>
              <a:rPr lang="en-US" sz="1500" dirty="0">
                <a:solidFill>
                  <a:srgbClr val="EAB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</a:t>
            </a:r>
            <a:pPr indent="0" marL="0">
              <a:buNone/>
            </a:pPr>
            <a:r>
              <a:rPr lang="en-US" sz="15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mange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46520" y="54864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rapide, bon sur les grands corpus.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RÉSULTAT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espace où la distance = la similarité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entraînement, les mots proches par le sens se regroupent. On mesure leur proximité par la similarité cosinus (de 0 à 1).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6583680" cy="4023360"/>
          </a:xfrm>
          <a:prstGeom prst="roundRect">
            <a:avLst>
              <a:gd name="adj" fmla="val 2273"/>
            </a:avLst>
          </a:prstGeom>
          <a:solidFill>
            <a:srgbClr val="F3F6F7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3063240"/>
            <a:ext cx="274320" cy="274320"/>
          </a:xfrm>
          <a:prstGeom prst="ellipse">
            <a:avLst/>
          </a:prstGeom>
          <a:solidFill>
            <a:srgbClr val="157A8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30449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57400" y="3611880"/>
            <a:ext cx="274320" cy="274320"/>
          </a:xfrm>
          <a:prstGeom prst="ellipse">
            <a:avLst/>
          </a:prstGeom>
          <a:solidFill>
            <a:srgbClr val="157A8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35935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25880" y="3703320"/>
            <a:ext cx="274320" cy="274320"/>
          </a:xfrm>
          <a:prstGeom prst="ellipse">
            <a:avLst/>
          </a:prstGeom>
          <a:solidFill>
            <a:srgbClr val="157A8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685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606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animaux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49240" y="5166360"/>
            <a:ext cx="274320" cy="274320"/>
          </a:xfrm>
          <a:prstGeom prst="ellipse">
            <a:avLst/>
          </a:prstGeom>
          <a:solidFill>
            <a:srgbClr val="E76F5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5148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voiture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06440" y="5532120"/>
            <a:ext cx="274320" cy="274320"/>
          </a:xfrm>
          <a:prstGeom prst="ellipse">
            <a:avLst/>
          </a:prstGeom>
          <a:solidFill>
            <a:srgbClr val="E76F5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55138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89320" y="4754880"/>
            <a:ext cx="274320" cy="274320"/>
          </a:xfrm>
          <a:prstGeom prst="ellipse">
            <a:avLst/>
          </a:prstGeom>
          <a:solidFill>
            <a:srgbClr val="E76F5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47365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58978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véhicules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06640" y="2377440"/>
            <a:ext cx="4206240" cy="4023360"/>
          </a:xfrm>
          <a:prstGeom prst="roundRect">
            <a:avLst>
              <a:gd name="adj" fmla="val 2273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38100" dir="8100000">
              <a:srgbClr val="0E2A33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8096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B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Similarité cosinus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80960" y="3154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 ~ chien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149840" y="31546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80960" y="37216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 ~ lapin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0149840" y="37216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80960" y="428853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 ~ voiture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149840" y="428853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80960" y="485546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 ~ train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0149840" y="485546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80960" y="55321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Proche de 1 → sens très proche.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Proche de 0 → sans rapport.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2D illustrative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 COUP D'ŒIL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TF-IDF vs Word2Vec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931920"/>
                <a:gridCol w="393192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B1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Word2Vec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AA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6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compter les mots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apprendre le contexte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6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le sens 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6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de vecteur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creux, très grand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dense, ~100-300 dim.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6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Synonymes proches 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6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Entraînement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instantané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nécessite du texte + calcul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6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Interprétable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(1 dim = 1 mot)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(dimensions abstraites)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6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Idéal pour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recherche, classement,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sémantique, entrée de réseaux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5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Complémentaires : TF-IDF pour une baseline solide et explicable, Word2Vec dès qu'on a besoin de sens.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Quelques lignes de Python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3840480"/>
          </a:xfrm>
          <a:prstGeom prst="roundRect">
            <a:avLst>
              <a:gd name="adj" fmla="val 2381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38100" dir="8100000">
              <a:srgbClr val="0E2A33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B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· scikit-learn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42316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FD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sklearn.feature_extraction.text \
  import TfidfVectorizer
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[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AB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 chat mange"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...]
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FD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TfidfVectorizer()
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vec.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FD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fit_transform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(docs)
</a:t>
            </a:r>
            <a:pPr indent="0" marL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7E9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X : matrice (docs × mots)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2200" y="1737360"/>
            <a:ext cx="5440680" cy="3840480"/>
          </a:xfrm>
          <a:prstGeom prst="roundRect">
            <a:avLst>
              <a:gd name="adj" fmla="val 2381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14300" dist="38100" dir="8100000">
              <a:srgbClr val="0E2A33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202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· gensim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00800" y="242316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FD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gensim.models import Word2Vec
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phrases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[[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AB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"le"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AB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"chat"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...], ...]
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FD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Word2Vec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(phrases,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vector_size=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AB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sg=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AB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m.wv.most_similar(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AB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"chat"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7E9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chien, lapin, ...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les deux cas : on part de phrases nettoyées et on obtient des vecteurs prêts pour un modèle.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1B9AAA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371600"/>
            <a:ext cx="3657600" cy="3657600"/>
          </a:xfrm>
          <a:prstGeom prst="ellipse">
            <a:avLst/>
          </a:prstGeom>
          <a:solidFill>
            <a:srgbClr val="EAB14C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AB1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L'essentiel en une diapo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7680960" cy="1234440"/>
          </a:xfrm>
          <a:prstGeom prst="roundRect">
            <a:avLst>
              <a:gd name="adj" fmla="val 7407"/>
            </a:avLst>
          </a:prstGeom>
          <a:solidFill>
            <a:srgbClr val="12343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30428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40487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075688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
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et pondère les mots : fréquent dans le doc, rare dans le corpus. Simple, rapide, explicable — mais aveugle au sens.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3355848"/>
            <a:ext cx="7680960" cy="1234440"/>
          </a:xfrm>
          <a:prstGeom prst="roundRect">
            <a:avLst>
              <a:gd name="adj" fmla="val 7407"/>
            </a:avLst>
          </a:prstGeom>
          <a:solidFill>
            <a:srgbClr val="12343F"/>
          </a:solidFill>
          <a:ln/>
        </p:spPr>
      </p:sp>
      <p:sp>
        <p:nvSpPr>
          <p:cNvPr id="11" name="Shape 8"/>
          <p:cNvSpPr/>
          <p:nvPr/>
        </p:nvSpPr>
        <p:spPr>
          <a:xfrm>
            <a:off x="914400" y="369417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37947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465576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
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 un vecteur dense par mot à partir du contexte. Capture synonymes et analogies, idéal en entrée d'un réseau.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40080" y="4745736"/>
            <a:ext cx="7680960" cy="1234440"/>
          </a:xfrm>
          <a:prstGeom prst="roundRect">
            <a:avLst>
              <a:gd name="adj" fmla="val 7407"/>
            </a:avLst>
          </a:prstGeom>
          <a:solidFill>
            <a:srgbClr val="12343F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5084064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518464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855464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Lequel choisir ?
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/ recherche → TF-IDF. Besoin de sémantique ou de deep learning → Word2Vec (ou ses successeurs).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8595360" y="1965960"/>
            <a:ext cx="2971800" cy="3877056"/>
          </a:xfrm>
          <a:prstGeom prst="roundRect">
            <a:avLst>
              <a:gd name="adj" fmla="val 3077"/>
            </a:avLst>
          </a:prstGeom>
          <a:solidFill>
            <a:srgbClr val="1B9AAA"/>
          </a:solidFill>
          <a:ln/>
          <a:effectLst>
            <a:outerShdw sx="100000" sy="100000" kx="0" ky="0" algn="bl" rotWithShape="0" blurRad="114300" dist="38100" dir="8100000">
              <a:srgbClr val="0E2A33">
                <a:alpha val="16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224028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86968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 aller plus loin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8869680" y="333756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&amp; FastText
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améliorés
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BERT, GPT
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sens selon le contexte (Transformers)
</a:t>
            </a:r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le notebook du séminaire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40080" y="6126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B1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Représenter le texte, c'est choisir ce que la machine pourra « comprendre ».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TF-IDF &amp; Word2Vec</dc:title>
  <dc:subject>PptxGenJS Presentation</dc:subject>
  <dc:creator>Séminaire NLP</dc:creator>
  <cp:lastModifiedBy>Séminaire NLP</cp:lastModifiedBy>
  <cp:revision>1</cp:revision>
  <dcterms:created xsi:type="dcterms:W3CDTF">2026-05-22T04:31:33Z</dcterms:created>
  <dcterms:modified xsi:type="dcterms:W3CDTF">2026-05-22T04:31:33Z</dcterms:modified>
</cp:coreProperties>
</file>